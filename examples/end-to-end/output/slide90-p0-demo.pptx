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Public repository fixture: examples/end-to-end/source.md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Public repository fixture: examples/end-to-end/source.md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266700"/>
            <a:ext cx="1108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EB7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P0 EVIDENCE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52450" y="514350"/>
            <a:ext cx="11087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executable capabilities move Slide90 from a prompt pattern to a testable product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52450" y="1304925"/>
            <a:ext cx="11087100" cy="0"/>
          </a:xfrm>
          <a:prstGeom prst="line">
            <a:avLst/>
          </a:prstGeom>
          <a:noFill/>
          <a:ln w="13970">
            <a:solidFill>
              <a:srgbClr val="CDD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2450" y="1381125"/>
            <a:ext cx="1108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P0 case rests on a stable contract, a unified interface, editable output, and reproducible quality checks.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52450" y="1714500"/>
            <a:ext cx="2700338" cy="609600"/>
          </a:xfrm>
          <a:prstGeom prst="roundRect">
            <a:avLst>
              <a:gd name="adj" fmla="val 900000"/>
            </a:avLst>
          </a:prstGeom>
          <a:solidFill>
            <a:srgbClr val="EAF2FB"/>
          </a:solidFill>
          <a:ln w="12700">
            <a:solidFill>
              <a:srgbClr val="EAF2F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90700"/>
            <a:ext cx="243363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7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047875"/>
            <a:ext cx="24336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schema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48038" y="1714500"/>
            <a:ext cx="2700338" cy="609600"/>
          </a:xfrm>
          <a:prstGeom prst="roundRect">
            <a:avLst>
              <a:gd name="adj" fmla="val 900000"/>
            </a:avLst>
          </a:prstGeom>
          <a:solidFill>
            <a:srgbClr val="E8F5F1"/>
          </a:solidFill>
          <a:ln w="12700">
            <a:solidFill>
              <a:srgbClr val="E8F5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81388" y="1790700"/>
            <a:ext cx="243363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8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81388" y="2047875"/>
            <a:ext cx="24336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layouts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43625" y="1714500"/>
            <a:ext cx="2700338" cy="609600"/>
          </a:xfrm>
          <a:prstGeom prst="roundRect">
            <a:avLst>
              <a:gd name="adj" fmla="val 900000"/>
            </a:avLst>
          </a:prstGeom>
          <a:solidFill>
            <a:srgbClr val="FAEBDD"/>
          </a:solidFill>
          <a:ln w="12700">
            <a:solidFill>
              <a:srgbClr val="FAEBD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6975" y="1790700"/>
            <a:ext cx="243363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B7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76975" y="2047875"/>
            <a:ext cx="24336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tests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939213" y="1714500"/>
            <a:ext cx="2700338" cy="609600"/>
          </a:xfrm>
          <a:prstGeom prst="roundRect">
            <a:avLst>
              <a:gd name="adj" fmla="val 900000"/>
            </a:avLst>
          </a:prstGeom>
          <a:solidFill>
            <a:srgbClr val="F0ECFB"/>
          </a:solidFill>
          <a:ln w="12700">
            <a:solidFill>
              <a:srgbClr val="F0ECF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72563" y="1790700"/>
            <a:ext cx="243363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6E4B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72563" y="2047875"/>
            <a:ext cx="24336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fixture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2450" y="2514600"/>
            <a:ext cx="5429250" cy="1295400"/>
          </a:xfrm>
          <a:prstGeom prst="roundRect">
            <a:avLst>
              <a:gd name="adj" fmla="val 352941"/>
            </a:avLst>
          </a:prstGeom>
          <a:solidFill>
            <a:srgbClr val="FFFFFF"/>
          </a:solidFill>
          <a:ln w="10160">
            <a:solidFill>
              <a:srgbClr val="CDD4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2450" y="2514600"/>
            <a:ext cx="66675" cy="1295400"/>
          </a:xfrm>
          <a:prstGeom prst="rect">
            <a:avLst/>
          </a:prstGeom>
          <a:solidFill>
            <a:srgbClr val="2477FF"/>
          </a:solidFill>
          <a:ln w="12700">
            <a:solidFill>
              <a:srgbClr val="2477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950" y="2638425"/>
            <a:ext cx="26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47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6800" y="2609850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deck-spec contract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2950" y="2924175"/>
            <a:ext cx="504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879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  </a:t>
            </a:r>
            <a:pPr indent="0" marL="0">
              <a:buNone/>
            </a:pPr>
            <a:r>
              <a:rPr lang="en-US" sz="11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agent judgment from deterministic production with one validated JSON interface.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2950" y="3257550"/>
            <a:ext cx="5048250" cy="0"/>
          </a:xfrm>
          <a:prstGeom prst="line">
            <a:avLst/>
          </a:prstGeom>
          <a:noFill/>
          <a:ln w="8890">
            <a:solidFill>
              <a:srgbClr val="CDD4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950" y="3314700"/>
            <a:ext cx="504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7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EVIDENCE  </a:t>
            </a:r>
            <a:pPr indent="0" marL="0">
              <a:buNone/>
            </a:pPr>
            <a:r>
              <a:rPr lang="en-US" sz="1100" b="1" dirty="0">
                <a:solidFill>
                  <a:srgbClr val="17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2020-12 schema defines slides, metrics, blocks, evidence, roles, and sources.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3619500"/>
            <a:ext cx="5162550" cy="142875"/>
          </a:xfrm>
          <a:prstGeom prst="roundRect">
            <a:avLst>
              <a:gd name="adj" fmla="val 1920000"/>
            </a:avLst>
          </a:prstGeom>
          <a:solidFill>
            <a:srgbClr val="EAF2FB"/>
          </a:solidFill>
          <a:ln w="12700">
            <a:solidFill>
              <a:srgbClr val="EAF2F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050" y="3629025"/>
            <a:ext cx="49720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47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schema  |  Stable element IDs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210300" y="2514600"/>
            <a:ext cx="5429250" cy="1295400"/>
          </a:xfrm>
          <a:prstGeom prst="roundRect">
            <a:avLst>
              <a:gd name="adj" fmla="val 352941"/>
            </a:avLst>
          </a:prstGeom>
          <a:solidFill>
            <a:srgbClr val="FFFFFF"/>
          </a:solidFill>
          <a:ln w="10160">
            <a:solidFill>
              <a:srgbClr val="CDD4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0300" y="2514600"/>
            <a:ext cx="66675" cy="1295400"/>
          </a:xfrm>
          <a:prstGeom prst="rect">
            <a:avLst/>
          </a:prstGeom>
          <a:solidFill>
            <a:srgbClr val="168A7A"/>
          </a:solidFill>
          <a:ln w="12700">
            <a:solidFill>
              <a:srgbClr val="168A7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2638425"/>
            <a:ext cx="26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68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24650" y="2609850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validation and render CLI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00800" y="2924175"/>
            <a:ext cx="504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879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  </a:t>
            </a:r>
            <a:pPr indent="0" marL="0">
              <a:buNone/>
            </a:pPr>
            <a:r>
              <a:rPr lang="en-US" sz="11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every agent platform the same commands and failure behavior.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3257550"/>
            <a:ext cx="5048250" cy="0"/>
          </a:xfrm>
          <a:prstGeom prst="line">
            <a:avLst/>
          </a:prstGeom>
          <a:noFill/>
          <a:ln w="8890">
            <a:solidFill>
              <a:srgbClr val="CDD4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314700"/>
            <a:ext cx="504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EVIDENCE  </a:t>
            </a:r>
            <a:pPr indent="0" marL="0">
              <a:buNone/>
            </a:pPr>
            <a:r>
              <a:rPr lang="en-US" sz="1100" b="1" dirty="0">
                <a:solidFill>
                  <a:srgbClr val="17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slide90 binary validates first and rejects unsupported render layouts explicitly.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43650" y="3619500"/>
            <a:ext cx="5162550" cy="142875"/>
          </a:xfrm>
          <a:prstGeom prst="roundRect">
            <a:avLst>
              <a:gd name="adj" fmla="val 1920000"/>
            </a:avLst>
          </a:prstGeom>
          <a:solidFill>
            <a:srgbClr val="E8F5F1"/>
          </a:solidFill>
          <a:ln w="12700">
            <a:solidFill>
              <a:srgbClr val="E8F5F1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38900" y="3629025"/>
            <a:ext cx="49720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68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 |  render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552450" y="4000500"/>
            <a:ext cx="5429250" cy="1295400"/>
          </a:xfrm>
          <a:prstGeom prst="roundRect">
            <a:avLst>
              <a:gd name="adj" fmla="val 352941"/>
            </a:avLst>
          </a:prstGeom>
          <a:solidFill>
            <a:srgbClr val="FFFFFF"/>
          </a:solidFill>
          <a:ln w="10160">
            <a:solidFill>
              <a:srgbClr val="CDD4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2450" y="4000500"/>
            <a:ext cx="66675" cy="1295400"/>
          </a:xfrm>
          <a:prstGeom prst="rect">
            <a:avLst/>
          </a:prstGeom>
          <a:solidFill>
            <a:srgbClr val="6E4BD8"/>
          </a:solidFill>
          <a:ln w="12700">
            <a:solidFill>
              <a:srgbClr val="6E4BD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2950" y="4124325"/>
            <a:ext cx="26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E4B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66800" y="4095750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PowerPoint output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42950" y="4410075"/>
            <a:ext cx="504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879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  </a:t>
            </a:r>
            <a:pPr indent="0" marL="0">
              <a:buNone/>
            </a:pPr>
            <a:r>
              <a:rPr lang="en-US" sz="11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repeatable geometry without flattening the page into an image.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42950" y="4743450"/>
            <a:ext cx="5048250" cy="0"/>
          </a:xfrm>
          <a:prstGeom prst="line">
            <a:avLst/>
          </a:prstGeom>
          <a:noFill/>
          <a:ln w="8890">
            <a:solidFill>
              <a:srgbClr val="CDD4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2950" y="4800600"/>
            <a:ext cx="504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E4B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EVIDENCE  </a:t>
            </a:r>
            <a:pPr indent="0" marL="0">
              <a:buNone/>
            </a:pPr>
            <a:r>
              <a:rPr lang="en-US" sz="1100" b="1" dirty="0">
                <a:solidFill>
                  <a:srgbClr val="17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matrix and capability loop use native PowerPoint shapes, text, and connectors.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5800" y="5105400"/>
            <a:ext cx="5162550" cy="142875"/>
          </a:xfrm>
          <a:prstGeom prst="roundRect">
            <a:avLst>
              <a:gd name="adj" fmla="val 1920000"/>
            </a:avLst>
          </a:prstGeom>
          <a:solidFill>
            <a:srgbClr val="F0ECFB"/>
          </a:solidFill>
          <a:ln w="12700">
            <a:solidFill>
              <a:srgbClr val="F0ECFB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1050" y="5114925"/>
            <a:ext cx="49720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4B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layouts  |  16:9 PPTX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6210300" y="4000500"/>
            <a:ext cx="5429250" cy="1295400"/>
          </a:xfrm>
          <a:prstGeom prst="roundRect">
            <a:avLst>
              <a:gd name="adj" fmla="val 352941"/>
            </a:avLst>
          </a:prstGeom>
          <a:solidFill>
            <a:srgbClr val="FFFFFF"/>
          </a:solidFill>
          <a:ln w="10160">
            <a:solidFill>
              <a:srgbClr val="CDD4D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0300" y="4000500"/>
            <a:ext cx="66675" cy="1295400"/>
          </a:xfrm>
          <a:prstGeom prst="rect">
            <a:avLst/>
          </a:prstGeom>
          <a:solidFill>
            <a:srgbClr val="EB7625"/>
          </a:solidFill>
          <a:ln w="12700">
            <a:solidFill>
              <a:srgbClr val="EB7625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4124325"/>
            <a:ext cx="26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B7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724650" y="4095750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Reproducible quality loop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6400800" y="4410075"/>
            <a:ext cx="504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879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  </a:t>
            </a:r>
            <a:pPr indent="0" marL="0">
              <a:buNone/>
            </a:pPr>
            <a:r>
              <a:rPr lang="en-US" sz="11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Catch structural errors before drawing and visual failures before release.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00800" y="4743450"/>
            <a:ext cx="5048250" cy="0"/>
          </a:xfrm>
          <a:prstGeom prst="line">
            <a:avLst/>
          </a:prstGeom>
          <a:noFill/>
          <a:ln w="8890">
            <a:solidFill>
              <a:srgbClr val="CDD4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4800600"/>
            <a:ext cx="504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B7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EVIDENCE  </a:t>
            </a:r>
            <a:pPr indent="0" marL="0">
              <a:buNone/>
            </a:pPr>
            <a:r>
              <a:rPr lang="en-US" sz="1100" b="1" dirty="0">
                <a:solidFill>
                  <a:srgbClr val="17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Tests, office rendering, overflow checks, independent import, and benchmark all pass.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343650" y="5105400"/>
            <a:ext cx="5162550" cy="142875"/>
          </a:xfrm>
          <a:prstGeom prst="roundRect">
            <a:avLst>
              <a:gd name="adj" fmla="val 1920000"/>
            </a:avLst>
          </a:prstGeom>
          <a:solidFill>
            <a:srgbClr val="FAEBDD"/>
          </a:solidFill>
          <a:ln w="12700">
            <a:solidFill>
              <a:srgbClr val="FAEBDD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38900" y="5114925"/>
            <a:ext cx="49720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EB7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Node tests  |  0 overflow errors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552450" y="5619750"/>
            <a:ext cx="11087100" cy="781050"/>
          </a:xfrm>
          <a:prstGeom prst="roundRect">
            <a:avLst>
              <a:gd name="adj" fmla="val 702439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0100" y="5753100"/>
            <a:ext cx="10591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 establishes a public, testable contract that future layouts can extend without changing the agent workflow.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266700"/>
            <a:ext cx="1108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EB7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CONTRIBUTOR LOOP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52450" y="514350"/>
            <a:ext cx="11087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contributor roles connect real reporting needs to a tested public release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52450" y="1304925"/>
            <a:ext cx="11087100" cy="0"/>
          </a:xfrm>
          <a:prstGeom prst="line">
            <a:avLst/>
          </a:prstGeom>
          <a:noFill/>
          <a:ln w="13970">
            <a:solidFill>
              <a:srgbClr val="CDD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2450" y="1381125"/>
            <a:ext cx="1108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loop keeps user context at the front, stable interfaces in the middle, and measurable quality at the end.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52450" y="1714500"/>
            <a:ext cx="3632200" cy="552450"/>
          </a:xfrm>
          <a:prstGeom prst="roundRect">
            <a:avLst>
              <a:gd name="adj" fmla="val 993103"/>
            </a:avLst>
          </a:prstGeom>
          <a:solidFill>
            <a:srgbClr val="FAEBDD"/>
          </a:solidFill>
          <a:ln w="12700">
            <a:solidFill>
              <a:srgbClr val="FAEBD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90700"/>
            <a:ext cx="33655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B7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047875"/>
            <a:ext cx="336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contributor roles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79900" y="1714500"/>
            <a:ext cx="3632200" cy="552450"/>
          </a:xfrm>
          <a:prstGeom prst="roundRect">
            <a:avLst>
              <a:gd name="adj" fmla="val 993103"/>
            </a:avLst>
          </a:prstGeom>
          <a:solidFill>
            <a:srgbClr val="EAF2FB"/>
          </a:solidFill>
          <a:ln w="12700">
            <a:solidFill>
              <a:srgbClr val="EAF2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13250" y="1790700"/>
            <a:ext cx="33655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7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13250" y="2047875"/>
            <a:ext cx="336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maintainer roles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07350" y="1714500"/>
            <a:ext cx="3632200" cy="552450"/>
          </a:xfrm>
          <a:prstGeom prst="roundRect">
            <a:avLst>
              <a:gd name="adj" fmla="val 993103"/>
            </a:avLst>
          </a:prstGeom>
          <a:solidFill>
            <a:srgbClr val="E8F5F1"/>
          </a:solidFill>
          <a:ln w="12700">
            <a:solidFill>
              <a:srgbClr val="E8F5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0700" y="1790700"/>
            <a:ext cx="33655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8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40700" y="2047875"/>
            <a:ext cx="336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feedback loop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2450" y="2457450"/>
            <a:ext cx="3143250" cy="2876550"/>
          </a:xfrm>
          <a:prstGeom prst="roundRect">
            <a:avLst>
              <a:gd name="adj" fmla="val 158940"/>
            </a:avLst>
          </a:prstGeom>
          <a:solidFill>
            <a:srgbClr val="FAEBDD"/>
          </a:solidFill>
          <a:ln w="12700">
            <a:solidFill>
              <a:srgbClr val="FAEBD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8100" y="2457450"/>
            <a:ext cx="7791450" cy="2876550"/>
          </a:xfrm>
          <a:prstGeom prst="roundRect">
            <a:avLst>
              <a:gd name="adj" fmla="val 158940"/>
            </a:avLst>
          </a:prstGeom>
          <a:solidFill>
            <a:srgbClr val="EAF2FB"/>
          </a:solidFill>
          <a:ln w="12700">
            <a:solidFill>
              <a:srgbClr val="EAF2F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3900" y="2628900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B7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NETWORK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38600" y="2628900"/>
            <a:ext cx="723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5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DELIVERY CHAIN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57400" y="3943350"/>
            <a:ext cx="133350" cy="0"/>
          </a:xfrm>
          <a:prstGeom prst="line">
            <a:avLst/>
          </a:prstGeom>
          <a:noFill/>
          <a:ln w="17780">
            <a:solidFill>
              <a:srgbClr val="EB762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562350" y="3943350"/>
            <a:ext cx="438150" cy="0"/>
          </a:xfrm>
          <a:prstGeom prst="line">
            <a:avLst/>
          </a:prstGeom>
          <a:noFill/>
          <a:ln w="17780">
            <a:solidFill>
              <a:srgbClr val="EB762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772150" y="3943350"/>
            <a:ext cx="133350" cy="0"/>
          </a:xfrm>
          <a:prstGeom prst="line">
            <a:avLst/>
          </a:prstGeom>
          <a:noFill/>
          <a:ln w="17780">
            <a:solidFill>
              <a:srgbClr val="EB762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677150" y="3943350"/>
            <a:ext cx="133350" cy="0"/>
          </a:xfrm>
          <a:prstGeom prst="line">
            <a:avLst/>
          </a:prstGeom>
          <a:noFill/>
          <a:ln w="17780">
            <a:solidFill>
              <a:srgbClr val="EB762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582150" y="3943350"/>
            <a:ext cx="133350" cy="0"/>
          </a:xfrm>
          <a:prstGeom prst="line">
            <a:avLst/>
          </a:prstGeom>
          <a:noFill/>
          <a:ln w="17780">
            <a:solidFill>
              <a:srgbClr val="EB762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238250" y="5010150"/>
            <a:ext cx="10001250" cy="0"/>
          </a:xfrm>
          <a:prstGeom prst="line">
            <a:avLst/>
          </a:prstGeom>
          <a:noFill/>
          <a:ln w="15240">
            <a:solidFill>
              <a:srgbClr val="EB7625"/>
            </a:solidFill>
            <a:prstDash val="solid"/>
            <a:headEnd type="triangle"/>
          </a:ln>
        </p:spPr>
      </p:sp>
      <p:sp>
        <p:nvSpPr>
          <p:cNvPr id="25" name="Shape 23"/>
          <p:cNvSpPr/>
          <p:nvPr/>
        </p:nvSpPr>
        <p:spPr>
          <a:xfrm>
            <a:off x="685800" y="2990850"/>
            <a:ext cx="1371600" cy="1905000"/>
          </a:xfrm>
          <a:prstGeom prst="roundRect">
            <a:avLst>
              <a:gd name="adj" fmla="val 333333"/>
            </a:avLst>
          </a:prstGeom>
          <a:solidFill>
            <a:srgbClr val="FFFFFF"/>
          </a:solidFill>
          <a:ln w="10160">
            <a:solidFill>
              <a:srgbClr val="CDD4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2990850"/>
            <a:ext cx="1371600" cy="66675"/>
          </a:xfrm>
          <a:prstGeom prst="rect">
            <a:avLst/>
          </a:prstGeom>
          <a:solidFill>
            <a:srgbClr val="EB7625"/>
          </a:solidFill>
          <a:ln w="12700">
            <a:solidFill>
              <a:srgbClr val="EB762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9150" y="3162300"/>
            <a:ext cx="1104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B7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AND CONTEXT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19150" y="3371850"/>
            <a:ext cx="11049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reporter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819150" y="3990975"/>
            <a:ext cx="1104900" cy="0"/>
          </a:xfrm>
          <a:prstGeom prst="line">
            <a:avLst/>
          </a:prstGeom>
          <a:noFill/>
          <a:ln w="8890">
            <a:solidFill>
              <a:srgbClr val="CDD4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9150" y="4067175"/>
            <a:ext cx="11049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the management question</a:t>
            </a:r>
            <a:endParaRPr lang="en-US" sz="1100" dirty="0"/>
          </a:p>
          <a:p>
            <a:r>
              <a:rPr lang="en-US" sz="11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Attach a synthetic failure case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190750" y="2990850"/>
            <a:ext cx="1371600" cy="1905000"/>
          </a:xfrm>
          <a:prstGeom prst="roundRect">
            <a:avLst>
              <a:gd name="adj" fmla="val 333333"/>
            </a:avLst>
          </a:prstGeom>
          <a:solidFill>
            <a:srgbClr val="FFFFFF"/>
          </a:solidFill>
          <a:ln w="10160">
            <a:solidFill>
              <a:srgbClr val="CDD4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90750" y="2990850"/>
            <a:ext cx="1371600" cy="66675"/>
          </a:xfrm>
          <a:prstGeom prst="rect">
            <a:avLst/>
          </a:prstGeom>
          <a:solidFill>
            <a:srgbClr val="EB7625"/>
          </a:solidFill>
          <a:ln w="12700">
            <a:solidFill>
              <a:srgbClr val="EB762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24100" y="3162300"/>
            <a:ext cx="1104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B7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PROPOSAL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324100" y="3371850"/>
            <a:ext cx="11049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 contributor</a:t>
            </a:r>
            <a:endParaRPr lang="en-US" sz="1280" dirty="0"/>
          </a:p>
        </p:txBody>
      </p:sp>
      <p:sp>
        <p:nvSpPr>
          <p:cNvPr id="35" name="Shape 33"/>
          <p:cNvSpPr/>
          <p:nvPr/>
        </p:nvSpPr>
        <p:spPr>
          <a:xfrm>
            <a:off x="2324100" y="3990975"/>
            <a:ext cx="1104900" cy="0"/>
          </a:xfrm>
          <a:prstGeom prst="line">
            <a:avLst/>
          </a:prstGeom>
          <a:noFill/>
          <a:ln w="8890">
            <a:solidFill>
              <a:srgbClr val="CDD4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24100" y="4067175"/>
            <a:ext cx="11049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the reading order</a:t>
            </a:r>
            <a:endParaRPr lang="en-US" sz="1100" dirty="0"/>
          </a:p>
          <a:p>
            <a:r>
              <a:rPr lang="en-US" sz="11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a safe visual example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000500" y="2990850"/>
            <a:ext cx="1771650" cy="1905000"/>
          </a:xfrm>
          <a:prstGeom prst="roundRect">
            <a:avLst>
              <a:gd name="adj" fmla="val 258065"/>
            </a:avLst>
          </a:prstGeom>
          <a:solidFill>
            <a:srgbClr val="FFFFFF"/>
          </a:solidFill>
          <a:ln w="10160">
            <a:solidFill>
              <a:srgbClr val="CDD4D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00500" y="2990850"/>
            <a:ext cx="1771650" cy="66675"/>
          </a:xfrm>
          <a:prstGeom prst="rect">
            <a:avLst/>
          </a:prstGeom>
          <a:solidFill>
            <a:srgbClr val="168A7A"/>
          </a:solidFill>
          <a:ln w="12700">
            <a:solidFill>
              <a:srgbClr val="168A7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33850" y="3162300"/>
            <a:ext cx="1504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68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CONTRACT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133850" y="3371850"/>
            <a:ext cx="15049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 maintainer</a:t>
            </a:r>
            <a:endParaRPr lang="en-US" sz="1280" dirty="0"/>
          </a:p>
        </p:txBody>
      </p:sp>
      <p:sp>
        <p:nvSpPr>
          <p:cNvPr id="41" name="Shape 39"/>
          <p:cNvSpPr/>
          <p:nvPr/>
        </p:nvSpPr>
        <p:spPr>
          <a:xfrm>
            <a:off x="4133850" y="3990975"/>
            <a:ext cx="1504950" cy="0"/>
          </a:xfrm>
          <a:prstGeom prst="line">
            <a:avLst/>
          </a:prstGeom>
          <a:noFill/>
          <a:ln w="8890">
            <a:solidFill>
              <a:srgbClr val="CDD4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33850" y="4067175"/>
            <a:ext cx="15049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schema changes</a:t>
            </a:r>
            <a:endParaRPr lang="en-US" sz="1100" dirty="0"/>
          </a:p>
          <a:p>
            <a:r>
              <a:rPr lang="en-US" sz="11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backward compatibility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05500" y="2990850"/>
            <a:ext cx="1771650" cy="1905000"/>
          </a:xfrm>
          <a:prstGeom prst="roundRect">
            <a:avLst>
              <a:gd name="adj" fmla="val 258065"/>
            </a:avLst>
          </a:prstGeom>
          <a:solidFill>
            <a:srgbClr val="FFFFFF"/>
          </a:solidFill>
          <a:ln w="10160">
            <a:solidFill>
              <a:srgbClr val="CDD4D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05500" y="2990850"/>
            <a:ext cx="1771650" cy="66675"/>
          </a:xfrm>
          <a:prstGeom prst="rect">
            <a:avLst/>
          </a:prstGeom>
          <a:solidFill>
            <a:srgbClr val="2477FF"/>
          </a:solidFill>
          <a:ln w="12700">
            <a:solidFill>
              <a:srgbClr val="2477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38850" y="3162300"/>
            <a:ext cx="1504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47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OUTPUT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038850" y="3371850"/>
            <a:ext cx="15049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Renderer maintainer</a:t>
            </a:r>
            <a:endParaRPr lang="en-US" sz="1280" dirty="0"/>
          </a:p>
        </p:txBody>
      </p:sp>
      <p:sp>
        <p:nvSpPr>
          <p:cNvPr id="47" name="Shape 45"/>
          <p:cNvSpPr/>
          <p:nvPr/>
        </p:nvSpPr>
        <p:spPr>
          <a:xfrm>
            <a:off x="6038850" y="3990975"/>
            <a:ext cx="1504950" cy="0"/>
          </a:xfrm>
          <a:prstGeom prst="line">
            <a:avLst/>
          </a:prstGeom>
          <a:noFill/>
          <a:ln w="8890">
            <a:solidFill>
              <a:srgbClr val="CDD4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38850" y="4067175"/>
            <a:ext cx="15049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native objects</a:t>
            </a:r>
            <a:endParaRPr lang="en-US" sz="1100" dirty="0"/>
          </a:p>
          <a:p>
            <a:r>
              <a:rPr lang="en-US" sz="11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tested geometry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810500" y="2990850"/>
            <a:ext cx="1771650" cy="1905000"/>
          </a:xfrm>
          <a:prstGeom prst="roundRect">
            <a:avLst>
              <a:gd name="adj" fmla="val 258065"/>
            </a:avLst>
          </a:prstGeom>
          <a:solidFill>
            <a:srgbClr val="FFFFFF"/>
          </a:solidFill>
          <a:ln w="10160">
            <a:solidFill>
              <a:srgbClr val="CDD4D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10500" y="2990850"/>
            <a:ext cx="1771650" cy="66675"/>
          </a:xfrm>
          <a:prstGeom prst="rect">
            <a:avLst/>
          </a:prstGeom>
          <a:solidFill>
            <a:srgbClr val="6E4BD8"/>
          </a:solidFill>
          <a:ln w="12700">
            <a:solidFill>
              <a:srgbClr val="6E4BD8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43850" y="3162300"/>
            <a:ext cx="1504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E4B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PROOF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943850" y="3371850"/>
            <a:ext cx="15049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maintainer</a:t>
            </a:r>
            <a:endParaRPr lang="en-US" sz="1280" dirty="0"/>
          </a:p>
        </p:txBody>
      </p:sp>
      <p:sp>
        <p:nvSpPr>
          <p:cNvPr id="53" name="Shape 51"/>
          <p:cNvSpPr/>
          <p:nvPr/>
        </p:nvSpPr>
        <p:spPr>
          <a:xfrm>
            <a:off x="7943850" y="3990975"/>
            <a:ext cx="1504950" cy="0"/>
          </a:xfrm>
          <a:prstGeom prst="line">
            <a:avLst/>
          </a:prstGeom>
          <a:noFill/>
          <a:ln w="8890">
            <a:solidFill>
              <a:srgbClr val="CDD4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43850" y="4067175"/>
            <a:ext cx="15049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render and overflow tests</a:t>
            </a:r>
            <a:endParaRPr lang="en-US" sz="1100" dirty="0"/>
          </a:p>
          <a:p>
            <a:r>
              <a:rPr lang="en-US" sz="11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the public preview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715500" y="2990850"/>
            <a:ext cx="1771650" cy="1905000"/>
          </a:xfrm>
          <a:prstGeom prst="roundRect">
            <a:avLst>
              <a:gd name="adj" fmla="val 258065"/>
            </a:avLst>
          </a:prstGeom>
          <a:solidFill>
            <a:srgbClr val="FFFFFF"/>
          </a:solidFill>
          <a:ln w="10160">
            <a:solidFill>
              <a:srgbClr val="CDD4D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715500" y="2990850"/>
            <a:ext cx="1771650" cy="66675"/>
          </a:xfrm>
          <a:prstGeom prst="rect">
            <a:avLst/>
          </a:prstGeom>
          <a:solidFill>
            <a:srgbClr val="EB7625"/>
          </a:solidFill>
          <a:ln w="12700">
            <a:solidFill>
              <a:srgbClr val="EB7625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48850" y="3162300"/>
            <a:ext cx="1504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B7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PUBLICATION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9848850" y="3371850"/>
            <a:ext cx="15049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maintainer</a:t>
            </a:r>
            <a:endParaRPr lang="en-US" sz="1280" dirty="0"/>
          </a:p>
        </p:txBody>
      </p:sp>
      <p:sp>
        <p:nvSpPr>
          <p:cNvPr id="59" name="Shape 57"/>
          <p:cNvSpPr/>
          <p:nvPr/>
        </p:nvSpPr>
        <p:spPr>
          <a:xfrm>
            <a:off x="9848850" y="3990975"/>
            <a:ext cx="1504950" cy="0"/>
          </a:xfrm>
          <a:prstGeom prst="line">
            <a:avLst/>
          </a:prstGeom>
          <a:noFill/>
          <a:ln w="8890">
            <a:solidFill>
              <a:srgbClr val="CDD4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848850" y="4067175"/>
            <a:ext cx="15049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privacy and licensing</a:t>
            </a:r>
            <a:endParaRPr lang="en-US" sz="1100" dirty="0"/>
          </a:p>
          <a:p>
            <a:r>
              <a:rPr lang="en-US" sz="11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package and results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714750" y="502920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B76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Feedback: adoption  ·  quality  ·  business value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52450" y="5619750"/>
            <a:ext cx="11087100" cy="781050"/>
          </a:xfrm>
          <a:prstGeom prst="roundRect">
            <a:avLst>
              <a:gd name="adj" fmla="val 702439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0100" y="5753100"/>
            <a:ext cx="10591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Contributors supply validated needs; maintainers protect the contract, renderer, quality bar, and public release.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Slide90 open-source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Slide90 P0: an executable foundation for decision-ready slides</dc:title>
  <dc:subject>Accept the P0 contract and extend future layouts through the same interface</dc:subject>
  <dc:creator>Slide90</dc:creator>
  <cp:lastModifiedBy>Slide90</cp:lastModifiedBy>
  <cp:revision>1</cp:revision>
  <dcterms:created xsi:type="dcterms:W3CDTF">2026-08-07T06:34:51Z</dcterms:created>
  <dcterms:modified xsi:type="dcterms:W3CDTF">2026-08-07T06:34:51Z</dcterms:modified>
</cp:coreProperties>
</file>